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7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691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2A180A8E-4668-486A-95D0-DBD6BDD7C4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CBB8E81-5147-5506-5F4B-DBC0E7AF26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6200" y="637890"/>
            <a:ext cx="0" cy="557241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4852B95-CFB8-EEBE-3973-7363B3611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96332" y="768924"/>
            <a:ext cx="0" cy="4800600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1A205B3-F30A-B2B0-2AFF-593443D3277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503863" y="1354138"/>
            <a:ext cx="5322887" cy="448151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831992"/>
            <a:ext cx="5897880" cy="4258956"/>
          </a:xfrm>
          <a:solidFill>
            <a:schemeClr val="bg2"/>
          </a:solidFill>
        </p:spPr>
        <p:txBody>
          <a:bodyPr lIns="182880" rIns="228600" bIns="91440" anchor="b">
            <a:normAutofit/>
          </a:bodyPr>
          <a:lstStyle>
            <a:lvl1pPr algn="r">
              <a:lnSpc>
                <a:spcPct val="80000"/>
              </a:lnSpc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5431" y="5372809"/>
            <a:ext cx="2364946" cy="909119"/>
          </a:xfrm>
          <a:solidFill>
            <a:schemeClr val="bg2"/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cap="all" baseline="0" dirty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547529" y="612251"/>
            <a:ext cx="2070397" cy="518965"/>
          </a:xfrm>
          <a:solidFill>
            <a:schemeClr val="bg2"/>
          </a:solidFill>
        </p:spPr>
        <p:txBody>
          <a:bodyPr anchor="t"/>
          <a:lstStyle>
            <a:lvl1pPr algn="r">
              <a:defRPr sz="1050"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897326" y="5229935"/>
            <a:ext cx="1223795" cy="365125"/>
          </a:xfrm>
          <a:solidFill>
            <a:schemeClr val="bg2"/>
          </a:solidFill>
        </p:spPr>
        <p:txBody>
          <a:bodyPr rIns="182880"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D55B4-EFB5-E5DE-2242-A16C643C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1400" y="6029866"/>
            <a:ext cx="461438" cy="365125"/>
          </a:xfrm>
          <a:solidFill>
            <a:schemeClr val="bg2"/>
          </a:solidFill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22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2986" y="265728"/>
            <a:ext cx="10981137" cy="1325563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986" y="1736176"/>
            <a:ext cx="10981137" cy="41988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977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C4281C-DEF6-4D7C-EC36-131C16834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7AE09E-7342-F8D6-76B9-3191D2C21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895" y="1090397"/>
            <a:ext cx="0" cy="4396003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D120947-D69A-84F3-7617-0239E8E5C7F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791" y="1371600"/>
            <a:ext cx="6706392" cy="54864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33850" y="685799"/>
            <a:ext cx="6373670" cy="2743201"/>
          </a:xfrm>
          <a:solidFill>
            <a:schemeClr val="bg2"/>
          </a:solidFill>
        </p:spPr>
        <p:txBody>
          <a:bodyPr vert="horz" lIns="182880" tIns="45720" rIns="91440" bIns="91440" rtlCol="0" anchor="b">
            <a:normAutofit/>
          </a:bodyPr>
          <a:lstStyle>
            <a:lvl1pPr>
              <a:lnSpc>
                <a:spcPct val="80000"/>
              </a:lnSpc>
              <a:defRPr lang="en-US" sz="68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00457" y="5570290"/>
            <a:ext cx="4114799" cy="69951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cap="all" baseline="0" dirty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5FE83-3A40-27CC-D68D-E889297B8CA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45716" y="508084"/>
            <a:ext cx="429372" cy="365125"/>
          </a:xfrm>
          <a:noFill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663" y="508084"/>
            <a:ext cx="1203320" cy="365125"/>
          </a:xfrm>
          <a:solidFill>
            <a:schemeClr val="bg2"/>
          </a:solidFill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34603" y="612063"/>
            <a:ext cx="1487296" cy="478334"/>
          </a:xfrm>
          <a:solidFill>
            <a:schemeClr val="bg2"/>
          </a:solidFill>
        </p:spPr>
        <p:txBody>
          <a:bodyPr anchor="t"/>
          <a:lstStyle>
            <a:lvl1pPr algn="r">
              <a:defRPr sz="105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1950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C4281C-DEF6-4D7C-EC36-131C16834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7AE09E-7342-F8D6-76B9-3191D2C21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895" y="1033580"/>
            <a:ext cx="0" cy="4800292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59" y="338328"/>
            <a:ext cx="8168640" cy="4462272"/>
          </a:xfrm>
          <a:noFill/>
        </p:spPr>
        <p:txBody>
          <a:bodyPr vert="horz" lIns="91440" tIns="45720" rIns="91440" bIns="137160" rtlCol="0" anchor="t">
            <a:normAutofit/>
          </a:bodyPr>
          <a:lstStyle>
            <a:lvl1pPr>
              <a:lnSpc>
                <a:spcPct val="80000"/>
              </a:lnSpc>
              <a:defRPr lang="en-US" sz="9600" spc="-100" baseline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34400" y="4754729"/>
            <a:ext cx="3084441" cy="1080302"/>
          </a:xfrm>
          <a:solidFill>
            <a:schemeClr val="bg2"/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cap="all" spc="100" baseline="0" dirty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0" y="447579"/>
            <a:ext cx="2477899" cy="586001"/>
          </a:xfrm>
          <a:noFill/>
        </p:spPr>
        <p:txBody>
          <a:bodyPr/>
          <a:lstStyle>
            <a:lvl1pPr algn="r">
              <a:defRPr sz="1050"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D55B4-EFB5-E5DE-2242-A16C643C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3218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D3069F5-8FDE-3652-E906-3619BF9A5D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B286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3E913D-4F8E-6F1A-DB89-A9E5CB7D2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26297" y="6172185"/>
            <a:ext cx="10326757" cy="0"/>
          </a:xfrm>
          <a:prstGeom prst="line">
            <a:avLst/>
          </a:prstGeom>
          <a:ln w="12700">
            <a:solidFill>
              <a:schemeClr val="bg2">
                <a:alpha val="4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8">
            <a:extLst>
              <a:ext uri="{FF2B5EF4-FFF2-40B4-BE49-F238E27FC236}">
                <a16:creationId xmlns:a16="http://schemas.microsoft.com/office/drawing/2014/main" id="{15478846-46FB-2BEE-98D6-C903223E25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" y="365760"/>
            <a:ext cx="11534790" cy="5525653"/>
          </a:xfrm>
          <a:noFill/>
        </p:spPr>
        <p:txBody>
          <a:bodyPr anchor="t">
            <a:normAutofit/>
          </a:bodyPr>
          <a:lstStyle>
            <a:lvl1pPr>
              <a:defRPr sz="11500" baseline="0">
                <a:ln>
                  <a:solidFill>
                    <a:schemeClr val="bg1"/>
                  </a:solidFill>
                </a:ln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8544F-8D58-BFED-5A2B-2F718BA6F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0139D-4890-4E0D-B3FD-098A02AB4A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CD1DB-3989-A34F-B5F7-DF66E018C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009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3CEDCC-8645-A5B4-D871-D69061512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1996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A45860-DB3A-9EDB-7B6D-FBF100121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321906" y="685800"/>
            <a:ext cx="10184294" cy="0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C2FAA59-861A-3F3D-3441-F66355408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24403" y="2043904"/>
            <a:ext cx="7467597" cy="48140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406175" y="2720396"/>
            <a:ext cx="5645423" cy="2494309"/>
          </a:xfrm>
          <a:solidFill>
            <a:schemeClr val="bg2">
              <a:lumMod val="90000"/>
            </a:schemeClr>
          </a:solidFill>
        </p:spPr>
        <p:txBody>
          <a:bodyPr vert="horz" lIns="91440" tIns="45720" rIns="91440" bIns="137160" rtlCol="0" anchor="t">
            <a:normAutofit/>
          </a:bodyPr>
          <a:lstStyle>
            <a:lvl1pPr>
              <a:defRPr lang="en-US" sz="12000" dirty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Agenda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6410" y="569843"/>
            <a:ext cx="1470992" cy="541698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algn="l">
              <a:defRPr sz="1050"/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0198" y="2743202"/>
            <a:ext cx="6096001" cy="3467098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+mj-lt"/>
              <a:buAutoNum type="arabicPeriod"/>
              <a:defRPr sz="1800"/>
            </a:lvl1pPr>
            <a:lvl2pPr marL="800100" indent="-342900">
              <a:buClr>
                <a:schemeClr val="accent2"/>
              </a:buClr>
              <a:buFont typeface="+mj-lt"/>
              <a:buAutoNum type="arabicPeriod"/>
              <a:defRPr sz="1600"/>
            </a:lvl2pPr>
            <a:lvl3pPr marL="1257300" indent="-342900">
              <a:buClr>
                <a:schemeClr val="accent2"/>
              </a:buClr>
              <a:buFont typeface="+mj-lt"/>
              <a:buAutoNum type="arabicPeriod"/>
              <a:defRPr sz="1400"/>
            </a:lvl3pPr>
            <a:lvl4pPr>
              <a:buClr>
                <a:schemeClr val="accent2"/>
              </a:buClr>
              <a:buFont typeface="+mj-lt"/>
              <a:buAutoNum type="arabicPeriod"/>
              <a:defRPr sz="1200"/>
            </a:lvl4pPr>
            <a:lvl5pPr>
              <a:buClr>
                <a:schemeClr val="accent2"/>
              </a:buClr>
              <a:buFont typeface="+mj-lt"/>
              <a:buAutoNum type="arabicPeriod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00458" y="413627"/>
            <a:ext cx="1256738" cy="5455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7196" y="413627"/>
            <a:ext cx="429372" cy="5455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500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3CEDCC-8645-A5B4-D871-D69061512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1996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2FAA59-861A-3F3D-3441-F66355408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71603" y="3415504"/>
            <a:ext cx="10820397" cy="34424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A45860-DB3A-9EDB-7B6D-FBF100121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11506200" y="1113182"/>
            <a:ext cx="0" cy="1704012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306" y="182880"/>
            <a:ext cx="7930892" cy="2238587"/>
          </a:xfrm>
          <a:noFill/>
        </p:spPr>
        <p:txBody>
          <a:bodyPr anchor="t">
            <a:normAutofit/>
          </a:bodyPr>
          <a:lstStyle>
            <a:lvl1pPr>
              <a:defRPr sz="12000" spc="-5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4946" y="3840480"/>
            <a:ext cx="6543924" cy="2536466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+mj-lt"/>
              <a:buAutoNum type="arabicPeriod"/>
              <a:defRPr sz="1800"/>
            </a:lvl1pPr>
            <a:lvl2pPr marL="800100" indent="-342900">
              <a:buClr>
                <a:schemeClr val="accent2"/>
              </a:buClr>
              <a:buFont typeface="+mj-lt"/>
              <a:buAutoNum type="arabicPeriod"/>
              <a:defRPr sz="1600"/>
            </a:lvl2pPr>
            <a:lvl3pPr marL="1257300" indent="-342900">
              <a:buClr>
                <a:schemeClr val="accent2"/>
              </a:buClr>
              <a:buFont typeface="+mj-lt"/>
              <a:buAutoNum type="arabicPeriod"/>
              <a:defRPr sz="1400"/>
            </a:lvl3pPr>
            <a:lvl4pPr>
              <a:buClr>
                <a:schemeClr val="accent2"/>
              </a:buClr>
              <a:buFont typeface="+mj-lt"/>
              <a:buAutoNum type="arabicPeriod"/>
              <a:defRPr sz="1200"/>
            </a:lvl4pPr>
            <a:lvl5pPr>
              <a:buClr>
                <a:schemeClr val="accent2"/>
              </a:buClr>
              <a:buFont typeface="+mj-lt"/>
              <a:buAutoNum type="arabicPeriod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34611" y="612381"/>
            <a:ext cx="1484228" cy="479352"/>
          </a:xfrm>
          <a:noFill/>
        </p:spPr>
        <p:txBody>
          <a:bodyPr anchor="t"/>
          <a:lstStyle>
            <a:lvl1pPr algn="r">
              <a:defRPr sz="1050"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33512" y="2756699"/>
            <a:ext cx="1256738" cy="423823"/>
          </a:xfrm>
          <a:solidFill>
            <a:schemeClr val="bg2">
              <a:lumMod val="90000"/>
            </a:schemeClr>
          </a:solidFill>
        </p:spPr>
        <p:txBody>
          <a:bodyPr anchor="ctr"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0544" y="2756699"/>
            <a:ext cx="429372" cy="423823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1DA62460-475C-38E7-135D-916B98438D0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763000" y="3415504"/>
            <a:ext cx="3429000" cy="344249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76894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601" y="2057399"/>
            <a:ext cx="3429000" cy="1868557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0" y="2057401"/>
            <a:ext cx="4648200" cy="2743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786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1031915"/>
            <a:ext cx="3968496" cy="1494845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0020" y="1001865"/>
            <a:ext cx="6416180" cy="46833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7"/>
            <a:ext cx="1179576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5333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31242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38400" y="0"/>
            <a:ext cx="7391400" cy="1207008"/>
          </a:xfrm>
        </p:spPr>
        <p:txBody>
          <a:bodyPr lIns="137160" tIns="137160" bIns="91440" anchor="b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3800" y="1367622"/>
            <a:ext cx="7929006" cy="44775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B460515-4779-2CA9-5335-1F4AD158B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810000" y="6210300"/>
            <a:ext cx="7696200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57601" y="6029868"/>
            <a:ext cx="202454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72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54864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3318" y="0"/>
            <a:ext cx="4385481" cy="1796124"/>
          </a:xfrm>
        </p:spPr>
        <p:txBody>
          <a:bodyPr lIns="137160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5056" y="1965281"/>
            <a:ext cx="4859992" cy="37328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6631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99475"/>
            <a:ext cx="3625442" cy="1474692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32" y="2124222"/>
            <a:ext cx="3567404" cy="3488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00601" y="0"/>
            <a:ext cx="73914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3614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30047"/>
            <a:ext cx="4939005" cy="116627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32" y="1746792"/>
            <a:ext cx="5776896" cy="3969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91400" y="0"/>
            <a:ext cx="48006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5387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8486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0456" y="0"/>
            <a:ext cx="4142830" cy="1978681"/>
          </a:xfrm>
        </p:spPr>
        <p:txBody>
          <a:bodyPr lIns="137160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2196" y="2112973"/>
            <a:ext cx="3151090" cy="36782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912" y="6029868"/>
            <a:ext cx="1911096" cy="365125"/>
          </a:xfrm>
          <a:noFill/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51008" y="6029868"/>
            <a:ext cx="890077" cy="365125"/>
          </a:xfrm>
          <a:noFill/>
        </p:spPr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3278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EB1BA68-9980-8CBB-7BAF-A1D760EB21E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12192000" cy="6858000"/>
          </a:xfrm>
          <a:custGeom>
            <a:avLst/>
            <a:gdLst>
              <a:gd name="connsiteX0" fmla="*/ 480060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5562599 h 6858000"/>
              <a:gd name="connsiteX5" fmla="*/ 4800600 w 12192000"/>
              <a:gd name="connsiteY5" fmla="*/ 55625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480060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5562599"/>
                </a:lnTo>
                <a:lnTo>
                  <a:pt x="4800600" y="5562599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1001376"/>
            <a:ext cx="3601122" cy="1362458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504" y="2496848"/>
            <a:ext cx="3601122" cy="230375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3504" y="503237"/>
            <a:ext cx="1907799" cy="365125"/>
          </a:xfrm>
          <a:noFill/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504" y="4800600"/>
            <a:ext cx="1256738" cy="365125"/>
          </a:xfrm>
          <a:noFill/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47641" y="4800600"/>
            <a:ext cx="429372" cy="365125"/>
          </a:xfrm>
          <a:noFill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5437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673955"/>
            <a:ext cx="3154680" cy="1287913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1148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0" y="4647060"/>
            <a:ext cx="7552114" cy="1382807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  <a:noFill/>
        </p:spPr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7542" y="6029868"/>
            <a:ext cx="429372" cy="365125"/>
          </a:xfrm>
          <a:noFill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4751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5" y="337062"/>
            <a:ext cx="6787898" cy="845931"/>
          </a:xfrm>
        </p:spPr>
        <p:txBody>
          <a:bodyPr tIns="91440" bIns="91440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05468" y="637706"/>
            <a:ext cx="1907799" cy="365125"/>
          </a:xfrm>
        </p:spPr>
        <p:txBody>
          <a:bodyPr anchor="t"/>
          <a:lstStyle>
            <a:lvl1pPr algn="r">
              <a:defRPr/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371600"/>
            <a:ext cx="7391402" cy="54864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6163" y="1266737"/>
            <a:ext cx="2894795" cy="47631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F397562-DA4B-EE6B-8F6C-1CE4F33EB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704" y="1028700"/>
            <a:ext cx="0" cy="480060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20005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800600" cy="482237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2085" y="4374100"/>
            <a:ext cx="3897905" cy="1380814"/>
          </a:xfrm>
        </p:spPr>
        <p:txBody>
          <a:bodyPr lIns="137160" tIns="137160"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9516" y="685800"/>
            <a:ext cx="5430884" cy="52049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2974" y="6029867"/>
            <a:ext cx="1911096" cy="365126"/>
          </a:xfrm>
          <a:solidFill>
            <a:schemeClr val="bg1"/>
          </a:solidFill>
        </p:spPr>
        <p:txBody>
          <a:bodyPr anchor="ctr"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  <a:solidFill>
            <a:schemeClr val="bg1"/>
          </a:solidFill>
        </p:spPr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7372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424EAB6-808C-672B-68A5-49764748CD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599" y="5149121"/>
            <a:ext cx="6861107" cy="842527"/>
          </a:xfrm>
          <a:noFill/>
        </p:spPr>
        <p:txBody>
          <a:bodyPr anchor="t"/>
          <a:lstStyle>
            <a:lvl1pPr algn="r">
              <a:defRPr b="0" cap="all" baseline="0">
                <a:solidFill>
                  <a:schemeClr val="accent1"/>
                </a:solidFill>
                <a:effectLst/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4196" y="120765"/>
            <a:ext cx="10723000" cy="4260404"/>
          </a:xfrm>
        </p:spPr>
        <p:txBody>
          <a:bodyPr lIns="0" tIns="0" rIns="0" bIns="0" anchor="b">
            <a:normAutofit/>
          </a:bodyPr>
          <a:lstStyle>
            <a:lvl1pPr marL="0" indent="0">
              <a:buNone/>
              <a:defRPr sz="28000" spc="-200" baseline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1" y="6029867"/>
            <a:ext cx="2137769" cy="365125"/>
          </a:xfrm>
          <a:noFill/>
        </p:spPr>
        <p:txBody>
          <a:bodyPr/>
          <a:lstStyle>
            <a:lvl1pPr>
              <a:defRPr b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38393CD-94B6-EC8A-E14F-A09689A25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3594" y="675861"/>
            <a:ext cx="0" cy="4184295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56561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65FCAFD-B73A-5597-B603-55FD5D3AAC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431" y="-785191"/>
            <a:ext cx="10981137" cy="640080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7930" y="1649896"/>
            <a:ext cx="10169921" cy="4949687"/>
          </a:xfrm>
        </p:spPr>
        <p:txBody>
          <a:bodyPr anchor="b">
            <a:norm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200" cap="all" spc="-100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lnSpc>
                <a:spcPct val="80000"/>
              </a:lnSpc>
              <a:buNone/>
              <a:defRPr sz="7200" cap="all" baseline="0">
                <a:solidFill>
                  <a:schemeClr val="bg1"/>
                </a:solidFill>
                <a:latin typeface="+mj-lt"/>
              </a:defRPr>
            </a:lvl2pPr>
            <a:lvl3pPr marL="914400" indent="0">
              <a:lnSpc>
                <a:spcPct val="80000"/>
              </a:lnSpc>
              <a:buNone/>
              <a:defRPr sz="7200" cap="all" baseline="0">
                <a:solidFill>
                  <a:schemeClr val="bg1"/>
                </a:solidFill>
                <a:latin typeface="+mj-lt"/>
              </a:defRPr>
            </a:lvl3pPr>
            <a:lvl4pPr marL="1371600" indent="0">
              <a:lnSpc>
                <a:spcPct val="80000"/>
              </a:lnSpc>
              <a:buNone/>
              <a:defRPr sz="6600" cap="all" baseline="0">
                <a:solidFill>
                  <a:schemeClr val="bg1"/>
                </a:solidFill>
                <a:latin typeface="+mj-lt"/>
              </a:defRPr>
            </a:lvl4pPr>
            <a:lvl5pPr marL="1828800" indent="0">
              <a:lnSpc>
                <a:spcPct val="80000"/>
              </a:lnSpc>
              <a:buNone/>
              <a:defRPr sz="6600" cap="all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C1887E-643E-BB68-F557-E1EAB0A0A6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26297" y="685800"/>
            <a:ext cx="10326757" cy="0"/>
          </a:xfrm>
          <a:prstGeom prst="line">
            <a:avLst/>
          </a:prstGeom>
          <a:ln w="12700">
            <a:solidFill>
              <a:schemeClr val="bg1">
                <a:alpha val="4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1" y="501227"/>
            <a:ext cx="1907799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 b="0" spc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00458" y="501227"/>
            <a:ext cx="1256738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7196" y="501227"/>
            <a:ext cx="429372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1716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052C017-FC5C-A7A2-BA15-6C113717C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999" cy="685800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8D5F78-0179-D9C3-74D3-62CE152FF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8763000" cy="50383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BB386FE-4A21-B72A-BB2B-D4FDFDC3EC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22427" y="6212437"/>
            <a:ext cx="10808612" cy="0"/>
          </a:xfrm>
          <a:prstGeom prst="line">
            <a:avLst/>
          </a:prstGeom>
          <a:ln w="12700">
            <a:solidFill>
              <a:schemeClr val="accent5">
                <a:alpha val="4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D4813FB1-9165-4DD7-C4C2-EAFC20602D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0" y="5410203"/>
            <a:ext cx="7543800" cy="372746"/>
          </a:xfrm>
          <a:noFill/>
        </p:spPr>
        <p:txBody>
          <a:bodyPr tIns="91440" bIns="91440" anchor="ctr">
            <a:normAutofit/>
          </a:bodyPr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3504" y="725556"/>
            <a:ext cx="8845296" cy="3656168"/>
          </a:xfrm>
        </p:spPr>
        <p:txBody>
          <a:bodyPr>
            <a:normAutofit/>
          </a:bodyPr>
          <a:lstStyle>
            <a:lvl1pPr marL="228600" indent="-228600">
              <a:lnSpc>
                <a:spcPct val="85000"/>
              </a:lnSpc>
              <a:spcBef>
                <a:spcPts val="0"/>
              </a:spcBef>
              <a:buNone/>
              <a:defRPr sz="5800" b="0" cap="all" spc="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4F49A81-8721-B846-5567-52769C04D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0" y="6029868"/>
            <a:ext cx="1911096" cy="365125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FB3E54B7-FFB1-7BFC-0189-A17360728C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802368" y="6029868"/>
            <a:ext cx="1435608" cy="365125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1DF2706-0EDF-0D3B-C01B-613E7D1BB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4966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50773-1259-8F51-3561-DF3A80B26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521185"/>
            <a:ext cx="10902696" cy="1070849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966CF-BE4B-28C8-6D17-E087E97C0E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5431" y="1756230"/>
            <a:ext cx="5181600" cy="40349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559437-5037-4EE7-88FA-80C5AA0870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4600" y="1756230"/>
            <a:ext cx="5181600" cy="40349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326746-DF44-9DEF-8471-A5E1F6CCC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850B58-64D5-F359-1AC8-3D57AA87B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6A22FA-48E7-5BF5-6432-6C7A54D7E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58386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D8D87-72DE-A210-5C2D-570A1B01D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521206"/>
            <a:ext cx="10899648" cy="1069848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3932A9-21A4-5A57-9D72-8C46993E6B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431" y="1631076"/>
            <a:ext cx="5157787" cy="70939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83D4B4-A366-E12D-19BB-C17B71466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5431" y="2372146"/>
            <a:ext cx="5157787" cy="34952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06DAAF-1A05-D83C-70C1-CEADA4EB73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4600" y="1631076"/>
            <a:ext cx="5183188" cy="70939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FE7B13-3453-6313-B416-E9FF9DA2E0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4600" y="2372146"/>
            <a:ext cx="5183188" cy="34952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61BE2D-E1A3-1A5C-AE37-9DC52A971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D5902D-DF04-F2A8-C2F8-EBDD2A897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4FDDA8-940A-B407-4EB2-85DC9BEDB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13312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151FC-CD6F-656F-54A8-59B782BEF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265176"/>
            <a:ext cx="11028923" cy="1325880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7D307A-FF1F-38A3-7DE5-F11DC31CA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4C539B-20CB-8D83-0ECC-5F682BD06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6EB674-912E-381A-49CE-08E49DFF4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65553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FA0B77-3CB1-4071-30F6-B0766D75C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4A81A7-FC7B-1689-D59F-4173A1763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080D98-2C9A-3434-E8A3-DA6CCD2F5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66064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8073289-DB44-2F27-575B-3B0123960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22766A-BE9C-B780-CC66-44ECFC5C0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57400" y="3084659"/>
            <a:ext cx="10133956" cy="3773341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6" y="182881"/>
            <a:ext cx="8616684" cy="1874520"/>
          </a:xfrm>
          <a:noFill/>
        </p:spPr>
        <p:txBody>
          <a:bodyPr anchor="t">
            <a:normAutofit/>
          </a:bodyPr>
          <a:lstStyle>
            <a:lvl1pPr>
              <a:defRPr sz="9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53600" y="617923"/>
            <a:ext cx="1866897" cy="461881"/>
          </a:xfrm>
          <a:noFill/>
        </p:spPr>
        <p:txBody>
          <a:bodyPr anchor="t"/>
          <a:lstStyle>
            <a:lvl1pPr algn="r">
              <a:defRPr sz="900"/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5846" y="3544866"/>
            <a:ext cx="8990722" cy="2446782"/>
          </a:xfrm>
        </p:spPr>
        <p:txBody>
          <a:bodyPr>
            <a:normAutofit/>
          </a:bodyPr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1800"/>
            </a:lvl1pPr>
            <a:lvl2pPr marL="457200" indent="0">
              <a:buClr>
                <a:schemeClr val="tx2"/>
              </a:buClr>
              <a:buFont typeface="Arial" panose="020B0604020202020204" pitchFamily="34" charset="0"/>
              <a:buNone/>
              <a:defRPr sz="1600"/>
            </a:lvl2pPr>
            <a:lvl3pPr marL="914400" indent="0">
              <a:buClr>
                <a:schemeClr val="tx2"/>
              </a:buClr>
              <a:buFont typeface="Arial" panose="020B0604020202020204" pitchFamily="34" charset="0"/>
              <a:buNone/>
              <a:defRPr sz="1400"/>
            </a:lvl3pPr>
            <a:lvl4pPr marL="13716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4pPr>
            <a:lvl5pPr marL="18288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95846" y="6024816"/>
            <a:ext cx="1809495" cy="365125"/>
          </a:xfrm>
          <a:solidFill>
            <a:schemeClr val="bg2"/>
          </a:solidFill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bg2"/>
          </a:solidFill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18322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8073289-DB44-2F27-575B-3B0123960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2AC4BE-2FD3-AAF4-8A1B-0633F1BEE3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436077" cy="2057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652D305-42E1-E86E-632C-9DFD4F747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85800" y="4564627"/>
            <a:ext cx="5068016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625" y="530940"/>
            <a:ext cx="7703576" cy="1308290"/>
          </a:xfrm>
          <a:noFill/>
        </p:spPr>
        <p:txBody>
          <a:bodyPr anchor="t">
            <a:normAutofit/>
          </a:bodyPr>
          <a:lstStyle>
            <a:lvl1pPr>
              <a:defRPr sz="80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7005" y="3571531"/>
            <a:ext cx="5009534" cy="1987694"/>
          </a:xfrm>
        </p:spPr>
        <p:txBody>
          <a:bodyPr anchor="ctr">
            <a:normAutofit/>
          </a:bodyPr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1800"/>
            </a:lvl1pPr>
            <a:lvl2pPr marL="457200" indent="0">
              <a:buClr>
                <a:schemeClr val="tx2"/>
              </a:buClr>
              <a:buFont typeface="Arial" panose="020B0604020202020204" pitchFamily="34" charset="0"/>
              <a:buNone/>
              <a:defRPr sz="1600"/>
            </a:lvl2pPr>
            <a:lvl3pPr marL="914400" indent="0">
              <a:buClr>
                <a:schemeClr val="tx2"/>
              </a:buClr>
              <a:buFont typeface="Arial" panose="020B0604020202020204" pitchFamily="34" charset="0"/>
              <a:buNone/>
              <a:defRPr sz="1400"/>
            </a:lvl3pPr>
            <a:lvl4pPr marL="13716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4pPr>
            <a:lvl5pPr marL="18288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0" y="6029867"/>
            <a:ext cx="1911096" cy="365126"/>
          </a:xfrm>
          <a:noFill/>
        </p:spPr>
        <p:txBody>
          <a:bodyPr anchor="ctr"/>
          <a:lstStyle>
            <a:lvl1pPr algn="l">
              <a:defRPr sz="900" b="1"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99320" y="6029867"/>
            <a:ext cx="1441766" cy="365125"/>
          </a:xfrm>
          <a:noFill/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969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BAF5C3-82B6-427E-5D2E-900A2D90A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22427" y="6212437"/>
            <a:ext cx="10808612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1AA792-727F-F91C-6564-A882FAF11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351270"/>
            <a:ext cx="10981137" cy="123972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13716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90A246-77A4-EC4C-28B8-90388BB8E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431" y="1745956"/>
            <a:ext cx="10981137" cy="3983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F6714-5B6F-439F-4173-D518237123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430" y="6029868"/>
            <a:ext cx="1911096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l">
              <a:defRPr sz="900" b="1" cap="all" spc="6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842E6-B4ED-431B-B1A0-22352BA620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0" y="6029868"/>
            <a:ext cx="1182686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900" cap="all" baseline="0"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743A1-0EE5-84FA-44EE-3CDDB793AA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3434" y="6029868"/>
            <a:ext cx="429372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900" cap="all" baseline="0"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381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5" r:id="rId1"/>
    <p:sldLayoutId id="2147483876" r:id="rId2"/>
    <p:sldLayoutId id="2147483877" r:id="rId3"/>
    <p:sldLayoutId id="2147483878" r:id="rId4"/>
    <p:sldLayoutId id="2147483879" r:id="rId5"/>
    <p:sldLayoutId id="2147483880" r:id="rId6"/>
    <p:sldLayoutId id="2147483881" r:id="rId7"/>
    <p:sldLayoutId id="2147483882" r:id="rId8"/>
    <p:sldLayoutId id="2147483883" r:id="rId9"/>
    <p:sldLayoutId id="2147483884" r:id="rId10"/>
    <p:sldLayoutId id="2147483885" r:id="rId11"/>
    <p:sldLayoutId id="2147483886" r:id="rId12"/>
    <p:sldLayoutId id="2147483887" r:id="rId13"/>
    <p:sldLayoutId id="2147483888" r:id="rId14"/>
    <p:sldLayoutId id="2147483889" r:id="rId15"/>
    <p:sldLayoutId id="2147483890" r:id="rId16"/>
    <p:sldLayoutId id="2147483891" r:id="rId17"/>
    <p:sldLayoutId id="2147483892" r:id="rId18"/>
    <p:sldLayoutId id="2147483893" r:id="rId19"/>
    <p:sldLayoutId id="2147483894" r:id="rId20"/>
    <p:sldLayoutId id="2147483895" r:id="rId21"/>
    <p:sldLayoutId id="2147483896" r:id="rId22"/>
    <p:sldLayoutId id="2147483897" r:id="rId23"/>
    <p:sldLayoutId id="2147483898" r:id="rId24"/>
    <p:sldLayoutId id="2147483899" r:id="rId25"/>
    <p:sldLayoutId id="2147483900" r:id="rId26"/>
    <p:sldLayoutId id="2147483901" r:id="rId27"/>
  </p:sldLayoutIdLst>
  <p:txStyles>
    <p:titleStyle>
      <a:lvl1pPr marL="0" algn="l" defTabSz="914400" rtl="0" eaLnBrk="1" latinLnBrk="0" hangingPunct="1">
        <a:lnSpc>
          <a:spcPct val="100000"/>
        </a:lnSpc>
        <a:spcBef>
          <a:spcPct val="0"/>
        </a:spcBef>
        <a:spcAft>
          <a:spcPts val="0"/>
        </a:spcAft>
        <a:buNone/>
        <a:defRPr sz="2800" kern="1200" cap="all" baseline="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864">
          <p15:clr>
            <a:srgbClr val="F26B43"/>
          </p15:clr>
        </p15:guide>
        <p15:guide id="3" pos="432">
          <p15:clr>
            <a:srgbClr val="F26B43"/>
          </p15:clr>
        </p15:guide>
        <p15:guide id="4" orient="horz" pos="3912">
          <p15:clr>
            <a:srgbClr val="F26B43"/>
          </p15:clr>
        </p15:guide>
        <p15:guide id="5" orient="horz" pos="3504">
          <p15:clr>
            <a:srgbClr val="F26B43"/>
          </p15:clr>
        </p15:guide>
        <p15:guide id="6" orient="horz" pos="3024">
          <p15:clr>
            <a:srgbClr val="F26B43"/>
          </p15:clr>
        </p15:guide>
        <p15:guide id="7" orient="horz" pos="2592">
          <p15:clr>
            <a:srgbClr val="F26B43"/>
          </p15:clr>
        </p15:guide>
        <p15:guide id="8" orient="horz" pos="1728">
          <p15:clr>
            <a:srgbClr val="F26B43"/>
          </p15:clr>
        </p15:guide>
        <p15:guide id="9" orient="horz" pos="1296">
          <p15:clr>
            <a:srgbClr val="F26B43"/>
          </p15:clr>
        </p15:guide>
        <p15:guide id="10" orient="horz" pos="864">
          <p15:clr>
            <a:srgbClr val="F26B43"/>
          </p15:clr>
        </p15:guide>
        <p15:guide id="11" orient="horz" pos="432">
          <p15:clr>
            <a:srgbClr val="F26B43"/>
          </p15:clr>
        </p15:guide>
        <p15:guide id="12" pos="1296">
          <p15:clr>
            <a:srgbClr val="F26B43"/>
          </p15:clr>
        </p15:guide>
        <p15:guide id="13" pos="1728">
          <p15:clr>
            <a:srgbClr val="F26B43"/>
          </p15:clr>
        </p15:guide>
        <p15:guide id="18" pos="2160">
          <p15:clr>
            <a:srgbClr val="F26B43"/>
          </p15:clr>
        </p15:guide>
        <p15:guide id="20" pos="5520">
          <p15:clr>
            <a:srgbClr val="F26B43"/>
          </p15:clr>
        </p15:guide>
        <p15:guide id="21" pos="5952">
          <p15:clr>
            <a:srgbClr val="F26B43"/>
          </p15:clr>
        </p15:guide>
        <p15:guide id="22" pos="6384">
          <p15:clr>
            <a:srgbClr val="F26B43"/>
          </p15:clr>
        </p15:guide>
        <p15:guide id="24" pos="6816">
          <p15:clr>
            <a:srgbClr val="F26B43"/>
          </p15:clr>
        </p15:guide>
        <p15:guide id="25" pos="7248">
          <p15:clr>
            <a:srgbClr val="F26B43"/>
          </p15:clr>
        </p15:guide>
        <p15:guide id="26" pos="5088">
          <p15:clr>
            <a:srgbClr val="F26B43"/>
          </p15:clr>
        </p15:guide>
        <p15:guide id="27" pos="4656">
          <p15:clr>
            <a:srgbClr val="F26B43"/>
          </p15:clr>
        </p15:guide>
        <p15:guide id="28" pos="4224">
          <p15:clr>
            <a:srgbClr val="F26B43"/>
          </p15:clr>
        </p15:guide>
        <p15:guide id="29" pos="2592">
          <p15:clr>
            <a:srgbClr val="F26B43"/>
          </p15:clr>
        </p15:guide>
        <p15:guide id="30" pos="3024">
          <p15:clr>
            <a:srgbClr val="F26B43"/>
          </p15:clr>
        </p15:guide>
        <p15:guide id="31" pos="3456">
          <p15:clr>
            <a:srgbClr val="F26B43"/>
          </p15:clr>
        </p15:guide>
        <p15:guide id="32" orient="horz" pos="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20364" y="1551354"/>
            <a:ext cx="7212231" cy="64633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600" b="1" dirty="0"/>
              <a:t>Natural language driven client onboarding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20240" y="2331720"/>
            <a:ext cx="83210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0"/>
              <a:t>Hackathon POC | From natural language to automated client onboarding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3794760"/>
            <a:ext cx="630936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/>
              <a:t>Prototype / Proof of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4389120"/>
            <a:ext cx="63093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0" dirty="0"/>
              <a:t>Team: ____________________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362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 dirty="0"/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26447"/>
            <a:ext cx="6853158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b="0" dirty="0"/>
              <a:t>Client onboarding test-data creation is repetitive and automation is fragmented.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019211" cy="25801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endParaRPr lang="en-GB" dirty="0"/>
          </a:p>
          <a:p>
            <a:pPr>
              <a:spcAft>
                <a:spcPts val="1000"/>
              </a:spcAft>
              <a:defRPr sz="2000"/>
            </a:pPr>
            <a:r>
              <a:rPr dirty="0"/>
              <a:t>• Testers need to translate business requests into structured test data.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• Multiple client/account combinations require manual preparation of CSV data.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• Existing API automation can execute onboarding, but input preparation still requires effort.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• Failures and generated client IDs are spread across automation output and reports.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• Goal: make the workflow accessible through a simple natural-language request.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50292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 dirty="0"/>
              <a:t>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95494"/>
            <a:ext cx="6455613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b="0" dirty="0"/>
              <a:t>A natural-language layer sits on top of the existing onboarding automation.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2057400"/>
            <a:ext cx="1627632" cy="1417320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600" b="1"/>
              <a:t>1</a:t>
            </a:r>
          </a:p>
          <a:p>
            <a:r>
              <a:t>Natural language</a:t>
            </a:r>
          </a:p>
          <a:p>
            <a:r>
              <a:t>request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2514600"/>
            <a:ext cx="3200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/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04288" y="2057400"/>
            <a:ext cx="1627632" cy="1417320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600" b="1"/>
              <a:t>2</a:t>
            </a:r>
          </a:p>
          <a:p>
            <a:r>
              <a:t>Local LLM</a:t>
            </a:r>
          </a:p>
          <a:p>
            <a:r>
              <a:t>intent extraction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50208" y="2514600"/>
            <a:ext cx="3200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/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88536" y="2057400"/>
            <a:ext cx="1627632" cy="1417320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600" b="1"/>
              <a:t>3</a:t>
            </a:r>
          </a:p>
          <a:p>
            <a:r>
              <a:t>Rule-based</a:t>
            </a:r>
          </a:p>
          <a:p>
            <a:r>
              <a:t>test-data generation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34455" y="2514600"/>
            <a:ext cx="3200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/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2783" y="2057400"/>
            <a:ext cx="1627632" cy="1417320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600" b="1"/>
              <a:t>4</a:t>
            </a:r>
          </a:p>
          <a:p>
            <a:r>
              <a:t>CSV</a:t>
            </a:r>
          </a:p>
          <a:p>
            <a:r>
              <a:t>creation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18704" y="2514600"/>
            <a:ext cx="3200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/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57031" y="2057400"/>
            <a:ext cx="1627632" cy="1417320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600" b="1"/>
              <a:t>5</a:t>
            </a:r>
          </a:p>
          <a:p>
            <a:r>
              <a:t>Existing Newman</a:t>
            </a:r>
          </a:p>
          <a:p>
            <a:r>
              <a:t>automation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02952" y="2514600"/>
            <a:ext cx="3200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/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0" y="2057400"/>
            <a:ext cx="1627632" cy="1417320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600" b="1"/>
              <a:t>6</a:t>
            </a:r>
          </a:p>
          <a:p>
            <a:r>
              <a:t>Client IDs +</a:t>
            </a:r>
          </a:p>
          <a:p>
            <a:r>
              <a:t>result summary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251960"/>
            <a:ext cx="978408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 dirty="0"/>
              <a:t>Key idea: AI understands intent; deterministic code controls test-data rules and execution.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/>
              <a:t>POC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1174"/>
            <a:ext cx="6199133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b="0" dirty="0"/>
              <a:t>Local processing keeps the prototype independent of external LLM APIs.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920240" cy="914400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600" b="1"/>
              <a:t>Frontend</a:t>
            </a:r>
          </a:p>
          <a:p>
            <a:r>
              <a:rPr b="1"/>
              <a:t>Web 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2057400"/>
            <a:ext cx="457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/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6120" y="1600200"/>
            <a:ext cx="2057400" cy="1371600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600" b="1"/>
              <a:t>Node.js /</a:t>
            </a:r>
          </a:p>
          <a:p>
            <a:r>
              <a:rPr b="1"/>
              <a:t>Express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0" y="2057400"/>
            <a:ext cx="457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/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97880" y="1600200"/>
            <a:ext cx="2057400" cy="1371600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600" b="1"/>
              <a:t>Ollama +</a:t>
            </a:r>
          </a:p>
          <a:p>
            <a:r>
              <a:rPr b="1"/>
              <a:t>Qwen 2.5 3B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057400"/>
            <a:ext cx="457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/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49640" y="1600200"/>
            <a:ext cx="2057400" cy="1371600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600" b="1" dirty="0"/>
              <a:t>Generation rules</a:t>
            </a:r>
          </a:p>
          <a:p>
            <a:r>
              <a:rPr b="1" dirty="0"/>
              <a:t>+ CSV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86200" y="4160520"/>
            <a:ext cx="2011680" cy="914400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600" b="1" dirty="0"/>
              <a:t>Existing</a:t>
            </a:r>
          </a:p>
          <a:p>
            <a:r>
              <a:rPr b="1" dirty="0"/>
              <a:t>Newman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4407408"/>
            <a:ext cx="5486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/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4160520"/>
            <a:ext cx="2103120" cy="914400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600" b="1" dirty="0"/>
              <a:t>Bank onboarding</a:t>
            </a:r>
          </a:p>
          <a:p>
            <a:r>
              <a:rPr b="1" dirty="0"/>
              <a:t>APIs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4407408"/>
            <a:ext cx="5486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/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18320" y="4160520"/>
            <a:ext cx="1828800" cy="914400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600" b="1" dirty="0"/>
              <a:t>Report /</a:t>
            </a:r>
          </a:p>
          <a:p>
            <a:r>
              <a:rPr b="1" dirty="0"/>
              <a:t>client IDs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/>
              <a:t>Demo 1 — Natural language → CSV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36563"/>
            <a:ext cx="2808782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n-US" sz="1600" b="0" dirty="0"/>
              <a:t>Personal laptop POC demonstration</a:t>
            </a:r>
            <a:endParaRPr sz="1600" b="0" dirty="0"/>
          </a:p>
        </p:txBody>
      </p:sp>
      <p:sp>
        <p:nvSpPr>
          <p:cNvPr id="5" name="TextBox 4"/>
          <p:cNvSpPr txBox="1"/>
          <p:nvPr/>
        </p:nvSpPr>
        <p:spPr>
          <a:xfrm>
            <a:off x="8092440" y="1417320"/>
            <a:ext cx="32004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/>
              <a:t>Example request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2440" y="2092522"/>
            <a:ext cx="3151825" cy="61555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0" dirty="0"/>
              <a:t>“Create 2 individual clients with </a:t>
            </a:r>
            <a:endParaRPr lang="en-GB" sz="1700" b="0" dirty="0"/>
          </a:p>
          <a:p>
            <a:pPr algn="l"/>
            <a:r>
              <a:rPr sz="1700" b="0" dirty="0"/>
              <a:t>first name Robin and 2 </a:t>
            </a:r>
            <a:r>
              <a:rPr sz="1700" b="0" dirty="0" err="1"/>
              <a:t>organisations</a:t>
            </a:r>
            <a:r>
              <a:rPr sz="1700" b="0" dirty="0"/>
              <a:t>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2440" y="3063240"/>
            <a:ext cx="32918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/>
              <a:t>What the POC demonstrates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3520440"/>
            <a:ext cx="329184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t>• Natural-language input</a:t>
            </a:r>
          </a:p>
          <a:p>
            <a:pPr>
              <a:spcAft>
                <a:spcPts val="1000"/>
              </a:spcAft>
              <a:defRPr sz="1600"/>
            </a:pPr>
            <a:r>
              <a:t>• Structured intent extraction</a:t>
            </a:r>
          </a:p>
          <a:p>
            <a:pPr>
              <a:spcAft>
                <a:spcPts val="1000"/>
              </a:spcAft>
              <a:defRPr sz="1600"/>
            </a:pPr>
            <a:r>
              <a:t>• Deterministic data generation</a:t>
            </a:r>
          </a:p>
          <a:p>
            <a:pPr>
              <a:spcAft>
                <a:spcPts val="1000"/>
              </a:spcAft>
              <a:defRPr sz="1600"/>
            </a:pPr>
            <a:r>
              <a:t>• Downloadable CSV</a:t>
            </a:r>
          </a:p>
        </p:txBody>
      </p:sp>
      <p:pic>
        <p:nvPicPr>
          <p:cNvPr id="9" name="Bandicam 2026-09-13 18-51-22-727">
            <a:hlinkClick r:id="" action="ppaction://media"/>
            <a:extLst>
              <a:ext uri="{FF2B5EF4-FFF2-40B4-BE49-F238E27FC236}">
                <a16:creationId xmlns:a16="http://schemas.microsoft.com/office/drawing/2014/main" id="{A777D148-3BC5-8FF5-5D5E-61E28DA872B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>
            <a:lum bright="3000" contrast="13000"/>
          </a:blip>
          <a:srcRect l="9980" t="7556" r="2267" b="626"/>
          <a:stretch>
            <a:fillRect/>
          </a:stretch>
        </p:blipFill>
        <p:spPr>
          <a:xfrm>
            <a:off x="621792" y="1333136"/>
            <a:ext cx="7197118" cy="419172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5055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/>
              <a:t>Deterministic test-data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36563"/>
            <a:ext cx="4653838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0" dirty="0"/>
              <a:t>LLM output is intentionally limited to intent and parameters.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3200400" cy="3228392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600" b="1" dirty="0"/>
              <a:t>LLM OUTPUT</a:t>
            </a:r>
          </a:p>
          <a:p>
            <a:endParaRPr sz="1600" b="1" dirty="0"/>
          </a:p>
          <a:p>
            <a:r>
              <a:rPr dirty="0" err="1"/>
              <a:t>requestType</a:t>
            </a:r>
            <a:endParaRPr dirty="0"/>
          </a:p>
          <a:p>
            <a:r>
              <a:rPr dirty="0"/>
              <a:t>count</a:t>
            </a:r>
          </a:p>
          <a:p>
            <a:r>
              <a:rPr dirty="0" err="1"/>
              <a:t>firstName</a:t>
            </a:r>
            <a:endParaRPr dirty="0"/>
          </a:p>
          <a:p>
            <a:r>
              <a:rPr dirty="0" err="1"/>
              <a:t>accountType</a:t>
            </a:r>
            <a:endParaRPr dirty="0"/>
          </a:p>
          <a:p>
            <a:r>
              <a:rPr dirty="0" err="1"/>
              <a:t>organisationType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3977639" y="2834640"/>
            <a:ext cx="6400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 b="1"/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17720" y="1371600"/>
            <a:ext cx="3200400" cy="3228392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600" b="1" dirty="0"/>
              <a:t>RULES + TEMPLATES</a:t>
            </a:r>
          </a:p>
          <a:p>
            <a:endParaRPr sz="1600" b="1" dirty="0"/>
          </a:p>
          <a:p>
            <a:r>
              <a:rPr dirty="0"/>
              <a:t>Random names</a:t>
            </a:r>
          </a:p>
          <a:p>
            <a:r>
              <a:rPr dirty="0"/>
              <a:t>Email / phone</a:t>
            </a:r>
          </a:p>
          <a:p>
            <a:r>
              <a:rPr dirty="0"/>
              <a:t>SIN / identifiers</a:t>
            </a:r>
          </a:p>
          <a:p>
            <a:r>
              <a:rPr dirty="0"/>
              <a:t>Defaults</a:t>
            </a:r>
          </a:p>
          <a:p>
            <a:r>
              <a:rPr dirty="0"/>
              <a:t>Account templates</a:t>
            </a:r>
          </a:p>
          <a:p>
            <a:r>
              <a:rPr dirty="0"/>
              <a:t>Static fields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9560" y="2834640"/>
            <a:ext cx="6400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 b="1"/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1371600"/>
            <a:ext cx="2926080" cy="3228392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600" b="1" dirty="0"/>
              <a:t>GENERATED CSV</a:t>
            </a:r>
          </a:p>
          <a:p>
            <a:endParaRPr sz="1600" b="1" dirty="0"/>
          </a:p>
          <a:p>
            <a:r>
              <a:rPr dirty="0"/>
              <a:t>Ready for</a:t>
            </a:r>
          </a:p>
          <a:p>
            <a:r>
              <a:rPr dirty="0"/>
              <a:t>existing Newman</a:t>
            </a:r>
          </a:p>
          <a:p>
            <a:r>
              <a:rPr dirty="0"/>
              <a:t>automation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1433" y="5154317"/>
            <a:ext cx="8847294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 dirty="0"/>
              <a:t>This separation reduces hallucination risk and keeps business rules under application control.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09890"/>
            <a:ext cx="8348760" cy="5232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 dirty="0"/>
              <a:t>Demo 2 — CSV → Newman → </a:t>
            </a:r>
            <a:r>
              <a:rPr lang="en-GB" sz="2800" b="1" dirty="0"/>
              <a:t>client</a:t>
            </a:r>
            <a:r>
              <a:rPr sz="2800" b="1" dirty="0"/>
              <a:t> onboarding</a:t>
            </a:r>
            <a:r>
              <a:rPr lang="en-GB" sz="2800" b="1" dirty="0"/>
              <a:t> in DE74 Env</a:t>
            </a:r>
            <a:endParaRPr sz="28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621792" y="821174"/>
            <a:ext cx="2518638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b="0" dirty="0"/>
              <a:t>Office laptop demonstration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47036"/>
            <a:ext cx="5303520" cy="4167963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600" b="1"/>
              <a:t>PASTE OFFICE LAPTOP VIDEO HERE</a:t>
            </a:r>
          </a:p>
          <a:p>
            <a:endParaRPr sz="1600" b="1"/>
          </a:p>
          <a:p>
            <a:r>
              <a:t>CSV → Newman → Bank website</a:t>
            </a:r>
          </a:p>
          <a:p>
            <a:r>
              <a:t>→ Clients created → Newman report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47036"/>
            <a:ext cx="2468880" cy="1998596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600" b="1"/>
              <a:t>SCREENSHOT PLACEHOLDER</a:t>
            </a:r>
          </a:p>
          <a:p>
            <a:r>
              <a:t>Newman execution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547036"/>
            <a:ext cx="2468880" cy="1998596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600" b="1"/>
              <a:t>SCREENSHOT PLACEHOLDER</a:t>
            </a:r>
          </a:p>
          <a:p>
            <a:r>
              <a:t>Bank client created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797558"/>
            <a:ext cx="2468880" cy="1828800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600" b="1" dirty="0"/>
              <a:t>SCREENSHOT PLACEHOLDER</a:t>
            </a:r>
          </a:p>
          <a:p>
            <a:r>
              <a:rPr dirty="0"/>
              <a:t>Newman HTML report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3797558"/>
            <a:ext cx="2468880" cy="1828800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600" b="1"/>
              <a:t>SCREENSHOT PLACEHOLDER</a:t>
            </a:r>
          </a:p>
          <a:p>
            <a:r>
              <a:t>Frontend result / IDs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 dirty="0"/>
              <a:t>End-to-end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1174"/>
            <a:ext cx="5083443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b="0" dirty="0"/>
              <a:t>Target workflow demonstrated across the two POC videos.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691640"/>
            <a:ext cx="6372257" cy="248786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rPr dirty="0"/>
              <a:t> 1. Tester describes onboarding requirement in plain language</a:t>
            </a:r>
          </a:p>
          <a:p>
            <a:pPr>
              <a:spcAft>
                <a:spcPts val="1000"/>
              </a:spcAft>
              <a:defRPr sz="1900"/>
            </a:pPr>
            <a:r>
              <a:rPr dirty="0"/>
              <a:t> 2. Local Qwen extracts structured requirements</a:t>
            </a:r>
          </a:p>
          <a:p>
            <a:pPr>
              <a:spcAft>
                <a:spcPts val="1000"/>
              </a:spcAft>
              <a:defRPr sz="1900"/>
            </a:pPr>
            <a:r>
              <a:rPr lang="en-US" dirty="0"/>
              <a:t> </a:t>
            </a:r>
            <a:r>
              <a:rPr dirty="0"/>
              <a:t>3. Application applies deterministic rules and creates CSV</a:t>
            </a:r>
          </a:p>
          <a:p>
            <a:pPr>
              <a:spcAft>
                <a:spcPts val="1000"/>
              </a:spcAft>
              <a:defRPr sz="1900"/>
            </a:pPr>
            <a:r>
              <a:rPr dirty="0"/>
              <a:t> 4. Existing Newman collection executes onboarding APIs</a:t>
            </a:r>
          </a:p>
          <a:p>
            <a:pPr>
              <a:spcAft>
                <a:spcPts val="1000"/>
              </a:spcAft>
              <a:defRPr sz="1900"/>
            </a:pPr>
            <a:r>
              <a:rPr dirty="0"/>
              <a:t> 5. Bank platform creates the requested clients/accounts</a:t>
            </a:r>
          </a:p>
          <a:p>
            <a:pPr>
              <a:spcAft>
                <a:spcPts val="1000"/>
              </a:spcAft>
              <a:defRPr sz="1900"/>
            </a:pPr>
            <a:r>
              <a:rPr dirty="0"/>
              <a:t> 6. Newman report is generated and results are surfaced to the user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/>
              <a:t>Expected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36563"/>
            <a:ext cx="4700326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0" dirty="0"/>
              <a:t>Why this POC is worth taking to the next development stage.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632317"/>
            <a:ext cx="1060704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rPr dirty="0"/>
              <a:t>• Reduces manual effort in preparing onboarding test data.</a:t>
            </a:r>
          </a:p>
          <a:p>
            <a:pPr>
              <a:spcAft>
                <a:spcPts val="1000"/>
              </a:spcAft>
              <a:defRPr sz="1900"/>
            </a:pPr>
            <a:r>
              <a:rPr dirty="0"/>
              <a:t>• Allows testers to express complex combinations in natural language.</a:t>
            </a:r>
          </a:p>
          <a:p>
            <a:pPr>
              <a:spcAft>
                <a:spcPts val="1000"/>
              </a:spcAft>
              <a:defRPr sz="1900"/>
            </a:pPr>
            <a:r>
              <a:rPr dirty="0"/>
              <a:t>• Reuses existing API/Newman automation instead of replacing proven components.</a:t>
            </a:r>
          </a:p>
          <a:p>
            <a:pPr>
              <a:spcAft>
                <a:spcPts val="1000"/>
              </a:spcAft>
              <a:defRPr sz="1900"/>
            </a:pPr>
            <a:r>
              <a:rPr dirty="0"/>
              <a:t>• Improves consistency through centralized rules and templates.</a:t>
            </a:r>
          </a:p>
          <a:p>
            <a:pPr>
              <a:spcAft>
                <a:spcPts val="1000"/>
              </a:spcAft>
              <a:defRPr sz="1900"/>
            </a:pPr>
            <a:r>
              <a:rPr dirty="0"/>
              <a:t>• Creates a foundation for automated validation, failure analysis and result summarization.</a:t>
            </a:r>
          </a:p>
          <a:p>
            <a:pPr>
              <a:spcAft>
                <a:spcPts val="1000"/>
              </a:spcAft>
              <a:defRPr sz="1900"/>
            </a:pPr>
            <a:r>
              <a:rPr dirty="0"/>
              <a:t>• Local LLM approach can support privacy-sensitive test-data workflows, subject to organizational approval.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/>
              <a:t>Next phase /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36563"/>
            <a:ext cx="5102679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0" dirty="0"/>
              <a:t>POC proves the core concept; the next stage turns it into an agent.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48111"/>
            <a:ext cx="102412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rPr dirty="0"/>
              <a:t>• Automatically trigger Newman from the application.</a:t>
            </a:r>
          </a:p>
          <a:p>
            <a:pPr>
              <a:spcAft>
                <a:spcPts val="1000"/>
              </a:spcAft>
              <a:defRPr sz="1900"/>
            </a:pPr>
            <a:r>
              <a:rPr dirty="0"/>
              <a:t>• Read Newman results and identify failed onboarding steps.</a:t>
            </a:r>
          </a:p>
          <a:p>
            <a:pPr>
              <a:spcAft>
                <a:spcPts val="1000"/>
              </a:spcAft>
              <a:defRPr sz="1900"/>
            </a:pPr>
            <a:r>
              <a:rPr dirty="0"/>
              <a:t>• Extract newly created client/account IDs.</a:t>
            </a:r>
          </a:p>
          <a:p>
            <a:pPr>
              <a:spcAft>
                <a:spcPts val="1000"/>
              </a:spcAft>
              <a:defRPr sz="1900"/>
            </a:pPr>
            <a:r>
              <a:rPr dirty="0"/>
              <a:t>• Show execution progress and results in the frontend.</a:t>
            </a:r>
          </a:p>
          <a:p>
            <a:pPr>
              <a:spcAft>
                <a:spcPts val="1000"/>
              </a:spcAft>
              <a:defRPr sz="1900"/>
            </a:pPr>
            <a:r>
              <a:rPr dirty="0"/>
              <a:t>• Support richer multi-client / multi-account natural-language requests.</a:t>
            </a:r>
          </a:p>
          <a:p>
            <a:pPr>
              <a:spcAft>
                <a:spcPts val="1000"/>
              </a:spcAft>
              <a:defRPr sz="1900"/>
            </a:pPr>
            <a:r>
              <a:rPr dirty="0"/>
              <a:t>• Add validation, audit logging, error handling and enterprise security controls.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3327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000" b="1"/>
              <a:t>Natural language driven client onboarding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2743200"/>
            <a:ext cx="96012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0"/>
              <a:t>From “what I want” → to “clients are created”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114800"/>
            <a:ext cx="850392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range Experience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40">
      <a:majorFont>
        <a:latin typeface="Oswald SemiBold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range experience" id="{9BAA8FFB-1EEF-49AC-B7FF-0F37799585E9}" vid="{6523F788-A6E6-47B0-B3C7-625411BE5A1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Orange Experience</Template>
  <TotalTime>25</TotalTime>
  <Words>619</Words>
  <Application>Microsoft Office PowerPoint</Application>
  <PresentationFormat>Widescreen</PresentationFormat>
  <Paragraphs>135</Paragraphs>
  <Slides>11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Oswald SemiBold</vt:lpstr>
      <vt:lpstr>Univers Condensed Light</vt:lpstr>
      <vt:lpstr>Orange Experience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Ritik deswal</cp:lastModifiedBy>
  <cp:revision>2</cp:revision>
  <dcterms:created xsi:type="dcterms:W3CDTF">2013-01-27T09:14:16Z</dcterms:created>
  <dcterms:modified xsi:type="dcterms:W3CDTF">2026-09-13T13:36:37Z</dcterms:modified>
  <cp:category/>
</cp:coreProperties>
</file>